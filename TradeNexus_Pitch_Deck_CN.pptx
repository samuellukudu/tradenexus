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371600"/>
            <a:ext cx="4572000" cy="4572000"/>
          </a:xfrm>
          <a:prstGeom prst="ellipse">
            <a:avLst/>
          </a:prstGeom>
          <a:solidFill>
            <a:srgbClr val="3B82F6">
              <a:lumMod val="5000"/>
              <a:lumOff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6B6D4"/>
                </a:solidFill>
                <a:latin typeface="Outfit"/>
              </a:defRPr>
            </a:pPr>
            <a:r>
              <a:t>⬡  TradeNexus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全球采购需求</a:t>
            </a:r>
          </a:p>
          <a:p>
            <a:pPr algn="l">
              <a:spcAft>
                <a:spcPts val="400"/>
              </a:spcAft>
              <a:defRPr sz="4800" b="1">
                <a:solidFill>
                  <a:srgbClr val="06B6D4"/>
                </a:solidFill>
                <a:latin typeface="Microsoft YaHei"/>
              </a:defRPr>
            </a:pPr>
            <a:r>
              <a:t>秒级匹配您的供应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自主 AI 销售代理——24 小时不间断</a:t>
            </a:r>
            <a:br/>
            <a:r>
              <a:t>帮您在全球 190+ 国家发现、核验并锁定优质 B2B 买家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29200"/>
            <a:ext cx="1828800" cy="9144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52120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600" b="1">
                <a:solidFill>
                  <a:srgbClr val="06B6D4"/>
                </a:solidFill>
                <a:latin typeface="Microsoft YaHei"/>
              </a:defRPr>
            </a:pPr>
            <a:r>
              <a:t>190+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669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覆盖国家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5029200"/>
            <a:ext cx="1828800" cy="9144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52120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600" b="1">
                <a:solidFill>
                  <a:srgbClr val="10B981"/>
                </a:solidFill>
                <a:latin typeface="Microsoft YaHei"/>
              </a:defRPr>
            </a:pPr>
            <a:r>
              <a:t>4,500+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669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活跃买家已探测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029200"/>
            <a:ext cx="1828800" cy="9144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52120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600" b="1">
                <a:solidFill>
                  <a:srgbClr val="3B82F6"/>
                </a:solidFill>
                <a:latin typeface="Microsoft YaHei"/>
              </a:defRPr>
            </a:pPr>
            <a:r>
              <a:t>98%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5669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匹配精准度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6217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8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AI 赋能 B2B 外贸拓客平台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01  ▸  行业挑战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外贸获客——对于制造商来说，问题出在哪？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供应商在展会、冷邮件和未经验证的客户名单上浪费了大量资金——却始终未能建立起真正的销售管道。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🔍  手动调研效率低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团队花费数周时间在谷歌上搜索买家、</a:t>
            </a:r>
            <a:br/>
            <a:r>
              <a:t>抓取目录信息，却不知道应该联系谁。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74320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💸  展会成本高昂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2918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单次展会 15万–80万人民币。</a:t>
            </a:r>
            <a:br/>
            <a:r>
              <a:t>3天时间，数百张名片，几乎零跟进转化。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74320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📉  客户名单未核验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2918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购买的 B2B 名单退信率高达 30–50%。</a:t>
            </a:r>
            <a:br/>
            <a:r>
              <a:t>联系方式过时、行业不匹配、毫无上下文。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66344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🌍  语言与文化壁垒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2120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触达 190 个国家的买家需要</a:t>
            </a:r>
            <a:br/>
            <a:r>
              <a:t>本地市场知识，供应商难以具备。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466344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⏳  缺乏系统化跟进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52120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即使找到了潜在客户，也没有系统化的</a:t>
            </a:r>
            <a:br/>
            <a:r>
              <a:t>方式来培育、追踪和跨时区成交。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66344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🚫  错失商机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2120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买家现在就在搜索您的产品。</a:t>
            </a:r>
            <a:br/>
            <a:r>
              <a:t>只是您不知道他们是谁、在哪里。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02  ▸  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TradeNexus AI：您的自主全球销售团队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只需描述一次您的产品，AI 代理将自动发现已核验的买家、分析市场、</a:t>
            </a:r>
            <a:br/>
            <a:r>
              <a:t>筛选公司资质并撰写个性化开发信——全天候自动化运行。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32918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260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🧠  AI 产品</a:t>
            </a:r>
            <a:br/>
            <a:r>
              <a:t>理解引擎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747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上传产品规格书或输入描述。</a:t>
            </a:r>
            <a:br/>
            <a:r>
              <a:t>AI 自动提取技术参数、认证</a:t>
            </a:r>
            <a:br/>
            <a:r>
              <a:t>信息和理想买家画像。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74320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743200"/>
            <a:ext cx="32918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9260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🌐  全球买家</a:t>
            </a:r>
            <a:br/>
            <a:r>
              <a:t>发现引擎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4747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自主代理搜索 190+ 国家，</a:t>
            </a:r>
            <a:br/>
            <a:r>
              <a:t>覆盖 Google、LinkedIn、</a:t>
            </a:r>
            <a:br/>
            <a:r>
              <a:t>Facebook、Instagram 及各国商会。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74320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9260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✅  实时核验</a:t>
            </a:r>
            <a:br/>
            <a:r>
              <a:t>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4747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每条线索均经过交叉核验：</a:t>
            </a:r>
            <a:br/>
            <a:r>
              <a:t>Google Maps 实地验证、社交媒体</a:t>
            </a:r>
            <a:br/>
            <a:r>
              <a:t>匹配、邮箱和电话有效性检查。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6344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663440"/>
            <a:ext cx="32918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8463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📊  市场情报</a:t>
            </a:r>
            <a:br/>
            <a:r>
              <a:t>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394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为每个目标市场生成完整报告：</a:t>
            </a:r>
            <a:br/>
            <a:r>
              <a:t>HS 编码、进口关税、竞争对手份额、</a:t>
            </a:r>
            <a:br/>
            <a:r>
              <a:t>增长趋势、定价结构和准入策略。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466344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663440"/>
            <a:ext cx="329184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48463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🤖  24/7</a:t>
            </a:r>
            <a:br/>
            <a:r>
              <a:t>无人值守模式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394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开启自动巡航后无需人工干预。</a:t>
            </a:r>
            <a:br/>
            <a:r>
              <a:t>AI 每隔几分钟重新扫描市场，</a:t>
            </a:r>
            <a:br/>
            <a:r>
              <a:t>持续学习优化渠道表现。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66344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4663440"/>
            <a:ext cx="32918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8463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✉️  AI 外联</a:t>
            </a:r>
            <a:br/>
            <a:r>
              <a:t>开发信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394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针对每条线索、每个市场、每种</a:t>
            </a:r>
            <a:br/>
            <a:r>
              <a:t>买家类型，生成个性化的冷邮件、</a:t>
            </a:r>
            <a:br/>
            <a:r>
              <a:t>LinkedIn 消息和 WhatsApp 话术。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03  ▸  操作流程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从产品到销售管道，只需三步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无需手动调研。无需昂贵数据库。无需销售团队。</a:t>
            </a:r>
          </a:p>
        </p:txBody>
      </p:sp>
      <p:sp>
        <p:nvSpPr>
          <p:cNvPr id="6" name="Oval 5"/>
          <p:cNvSpPr/>
          <p:nvPr/>
        </p:nvSpPr>
        <p:spPr>
          <a:xfrm>
            <a:off x="2011680" y="274320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91840" y="3108960"/>
            <a:ext cx="914400" cy="36576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1148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描述您的</a:t>
            </a:r>
            <a:br/>
            <a:r>
              <a:t>产品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8463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上传 PDF 规格书、粘贴产品描述</a:t>
            </a:r>
            <a:br/>
            <a:r>
              <a:t>或仅输入产品名称。AI 自动提取</a:t>
            </a:r>
            <a:br/>
            <a:r>
              <a:t>技术参数、认证资质、理想买家</a:t>
            </a:r>
            <a:br/>
            <a:r>
              <a:t>画像和价值主张。</a:t>
            </a:r>
          </a:p>
        </p:txBody>
      </p:sp>
      <p:sp>
        <p:nvSpPr>
          <p:cNvPr id="10" name="Oval 9"/>
          <p:cNvSpPr/>
          <p:nvPr/>
        </p:nvSpPr>
        <p:spPr>
          <a:xfrm>
            <a:off x="5669280" y="2743200"/>
            <a:ext cx="1097280" cy="10972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49440" y="3108960"/>
            <a:ext cx="914400" cy="36576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41148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AI 侦察</a:t>
            </a:r>
            <a:br/>
            <a:r>
              <a:t>全球市场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8463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自主代理通过应用场景驱动发现，</a:t>
            </a:r>
            <a:br/>
            <a:r>
              <a:t>搜索 190+ 国家。在 Google、</a:t>
            </a:r>
            <a:br/>
            <a:r>
              <a:t>LinkedIn、Facebook、Instagram</a:t>
            </a:r>
            <a:br/>
            <a:r>
              <a:t>及行业目录中交叉寻找买家。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0" y="2743200"/>
            <a:ext cx="1097280" cy="10972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1148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联系</a:t>
            </a:r>
            <a:br/>
            <a:r>
              <a:t>并成交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8463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获取已验证的邮箱、电话、社交媒体</a:t>
            </a:r>
            <a:br/>
            <a:r>
              <a:t>资料和 AI 生成的开发信。全程追踪</a:t>
            </a:r>
            <a:br/>
            <a:r>
              <a:t>每条线索，从发现到成交，</a:t>
            </a:r>
            <a:br/>
            <a:r>
              <a:t>一目了然。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⚡  从产品描述到第一批已验证线索：平均不到 3 分钟。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04  ▸  全球版图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190+ 国家的实时 B2B 采购需求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我们的 AI 代理 24/7 监控全球 B2B 采购信号。以下是平台实时探测到的热点市场：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6060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🇦🇪  阿联酋·迪拜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852928"/>
            <a:ext cx="1005840" cy="201168"/>
          </a:xfrm>
          <a:prstGeom prst="roundRect">
            <a:avLst/>
          </a:prstGeom>
          <a:solidFill>
            <a:srgbClr val="130901"/>
          </a:solidFill>
          <a:ln w="12700">
            <a:solidFill>
              <a:srgbClr val="301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97316"/>
                </a:solidFill>
                <a:latin typeface="Microsoft YaHei"/>
              </a:defRPr>
            </a:pPr>
            <a:r>
              <a:t>高需求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🛒  320+ 买家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热门品类: 个人防护与医疗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10B981"/>
                </a:solidFill>
                <a:latin typeface="Microsoft YaHei"/>
              </a:defRPr>
            </a:pPr>
            <a:r>
              <a:t>匹配度: 98%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743200"/>
            <a:ext cx="26060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🇸🇦  沙特·吉达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852928"/>
            <a:ext cx="1005840" cy="201168"/>
          </a:xfrm>
          <a:prstGeom prst="roundRect">
            <a:avLst/>
          </a:prstGeom>
          <a:solidFill>
            <a:srgbClr val="130901"/>
          </a:solidFill>
          <a:ln w="12700">
            <a:solidFill>
              <a:srgbClr val="301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97316"/>
                </a:solidFill>
                <a:latin typeface="Microsoft YaHei"/>
              </a:defRPr>
            </a:pPr>
            <a:r>
              <a:t>高需求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🛒  210+ 买家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611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热门品类: 太阳能光伏板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931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10B981"/>
                </a:solidFill>
                <a:latin typeface="Microsoft YaHei"/>
              </a:defRPr>
            </a:pPr>
            <a:r>
              <a:t>匹配度: 89%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743200"/>
            <a:ext cx="26060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🇦🇺  澳大利亚·悉尼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852928"/>
            <a:ext cx="1005840" cy="201168"/>
          </a:xfrm>
          <a:prstGeom prst="roundRect">
            <a:avLst/>
          </a:prstGeom>
          <a:solidFill>
            <a:srgbClr val="130901"/>
          </a:solidFill>
          <a:ln w="12700">
            <a:solidFill>
              <a:srgbClr val="301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97316"/>
                </a:solidFill>
                <a:latin typeface="Microsoft YaHei"/>
              </a:defRPr>
            </a:pPr>
            <a:r>
              <a:t>高需求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🛒  220+ 买家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11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热门品类: 迷你挖掘机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931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10B981"/>
                </a:solidFill>
                <a:latin typeface="Microsoft YaHei"/>
              </a:defRPr>
            </a:pPr>
            <a:r>
              <a:t>匹配度: 96%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2743200"/>
            <a:ext cx="26060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🇩🇪  德国·纽伦堡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98480" y="2852928"/>
            <a:ext cx="1005840" cy="201168"/>
          </a:xfrm>
          <a:prstGeom prst="roundRect">
            <a:avLst/>
          </a:prstGeom>
          <a:solidFill>
            <a:srgbClr val="000E10"/>
          </a:solidFill>
          <a:ln w="12700">
            <a:solidFill>
              <a:srgbClr val="01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6B6D4"/>
                </a:solidFill>
                <a:latin typeface="Microsoft YaHei"/>
              </a:defRPr>
            </a:pPr>
            <a:r>
              <a:t>增长市场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🛒  180+ 买家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611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热门品类: 电动汽车电池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931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10B981"/>
                </a:solidFill>
                <a:latin typeface="Microsoft YaHei"/>
              </a:defRPr>
            </a:pPr>
            <a:r>
              <a:t>匹配度: 93%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663440"/>
            <a:ext cx="26060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754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🇧🇷  巴西·圣保罗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4560" y="4773168"/>
            <a:ext cx="1005840" cy="201168"/>
          </a:xfrm>
          <a:prstGeom prst="roundRect">
            <a:avLst/>
          </a:prstGeom>
          <a:solidFill>
            <a:srgbClr val="130901"/>
          </a:solidFill>
          <a:ln w="12700">
            <a:solidFill>
              <a:srgbClr val="301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97316"/>
                </a:solidFill>
                <a:latin typeface="Microsoft YaHei"/>
              </a:defRPr>
            </a:pPr>
            <a:r>
              <a:t>高需求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🛒  195+ 买家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532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热门品类: 矿山机械配件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8521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10B981"/>
                </a:solidFill>
                <a:latin typeface="Microsoft YaHei"/>
              </a:defRPr>
            </a:pPr>
            <a:r>
              <a:t>匹配度: 94%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66160" y="4663440"/>
            <a:ext cx="26060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40" y="4754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🇫🇯  斐济·苏瓦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4773168"/>
            <a:ext cx="1005840" cy="201168"/>
          </a:xfrm>
          <a:prstGeom prst="roundRect">
            <a:avLst/>
          </a:prstGeom>
          <a:solidFill>
            <a:srgbClr val="000E10"/>
          </a:solidFill>
          <a:ln w="12700">
            <a:solidFill>
              <a:srgbClr val="01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6B6D4"/>
                </a:solidFill>
                <a:latin typeface="Microsoft YaHei"/>
              </a:defRPr>
            </a:pPr>
            <a:r>
              <a:t>增长市场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🛒  95+ 买家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40" y="5532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热门品类: 暖通空调系统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58521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10B981"/>
                </a:solidFill>
                <a:latin typeface="Microsoft YaHei"/>
              </a:defRPr>
            </a:pPr>
            <a:r>
              <a:t>匹配度: 92%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663440"/>
            <a:ext cx="26060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4754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🇲🇽  墨西哥·蒙特雷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63840" y="4773168"/>
            <a:ext cx="1005840" cy="201168"/>
          </a:xfrm>
          <a:prstGeom prst="roundRect">
            <a:avLst/>
          </a:prstGeom>
          <a:solidFill>
            <a:srgbClr val="000E10"/>
          </a:solidFill>
          <a:ln w="12700">
            <a:solidFill>
              <a:srgbClr val="01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6B6D4"/>
                </a:solidFill>
                <a:latin typeface="Microsoft YaHei"/>
              </a:defRPr>
            </a:pPr>
            <a:r>
              <a:t>增长市场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🛒  130+ 买家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532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热门品类: 工业包装设备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8521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10B981"/>
                </a:solidFill>
                <a:latin typeface="Microsoft YaHei"/>
              </a:defRPr>
            </a:pPr>
            <a:r>
              <a:t>匹配度: 95%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4663440"/>
            <a:ext cx="26060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18320" y="4754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🇰🇪  肯尼亚·内罗毕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698480" y="4773168"/>
            <a:ext cx="1005840" cy="201168"/>
          </a:xfrm>
          <a:prstGeom prst="roundRect">
            <a:avLst/>
          </a:prstGeom>
          <a:solidFill>
            <a:srgbClr val="000E10"/>
          </a:solidFill>
          <a:ln w="12700">
            <a:solidFill>
              <a:srgbClr val="01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6B6D4"/>
                </a:solidFill>
                <a:latin typeface="Microsoft YaHei"/>
              </a:defRPr>
            </a:pPr>
            <a:r>
              <a:t>增长市场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🛒  150+ 买家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5532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热门品类: 农业机械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58521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10B981"/>
                </a:solidFill>
                <a:latin typeface="Microsoft YaHei"/>
              </a:defRPr>
            </a:pPr>
            <a:r>
              <a:t>匹配度: 91%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64008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📡  数据持续刷新。每小时在所有区域检测到新的买家信号。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05  ▸  智能发现引擎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我们不只搜索关键词——我们寻找应用场景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TradeNexus 采用应用场景驱动发现——精确分析您的产品在每个目标国家如何被使用，</a:t>
            </a:r>
            <a:br/>
            <a:r>
              <a:t>然后精准锁定在这些应用场景中采购的公司。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F97316"/>
                </a:solidFill>
                <a:latin typeface="Microsoft YaHei"/>
              </a:defRPr>
            </a:pPr>
            <a:r>
              <a:t>❌  传统 B2B 搜索方式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83280"/>
            <a:ext cx="4846320" cy="2377440"/>
          </a:xfrm>
          <a:prstGeom prst="roundRect">
            <a:avLst/>
          </a:prstGeom>
          <a:solidFill>
            <a:srgbClr val="1A0F0F"/>
          </a:solidFill>
          <a:ln w="127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56616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50" b="0">
                <a:solidFill>
                  <a:srgbClr val="94A3B8"/>
                </a:solidFill>
                <a:latin typeface="Microsoft YaHei"/>
              </a:defRPr>
            </a:pPr>
            <a:r>
              <a:t>▸  搜索：「澳大利亚太阳能板经销商」</a:t>
            </a:r>
            <a:br/>
            <a:r>
              <a:t>▸  结果：通用目录列表、失效链接</a:t>
            </a:r>
            <a:br/>
            <a:r>
              <a:t>▸  无上下文：谁在采购？为什么采购？</a:t>
            </a:r>
            <a:br/>
            <a:r>
              <a:t>▸  未核验：虚假或过时的联系方式</a:t>
            </a:r>
            <a:br/>
            <a:r>
              <a:t>▸  一刀切：所有市场用相同搜索方式</a:t>
            </a:r>
            <a:br/>
            <a:r>
              <a:t>▸  全手动：数小时点击、表格整理、痛苦不堪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✅  TradeNexus 应用场景驱动发现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383280"/>
            <a:ext cx="4846320" cy="237744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165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56616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50" b="0">
                <a:solidFill>
                  <a:srgbClr val="94A3B8"/>
                </a:solidFill>
                <a:latin typeface="Microsoft YaHei"/>
              </a:defRPr>
            </a:pPr>
            <a:r>
              <a:t>▸  AI 分析：该产品在澳大利亚如何被使用？</a:t>
            </a:r>
            <a:br/>
            <a:r>
              <a:t>▸  为每个国家绘制 3–10 个具体应用场景</a:t>
            </a:r>
            <a:br/>
            <a:r>
              <a:t>▸  每个场景：买家类型、搜索词、资质信号</a:t>
            </a:r>
            <a:br/>
            <a:r>
              <a:t>▸  搜索 Google + LinkedIn + Facebook + Instagram</a:t>
            </a:r>
            <a:br/>
            <a:r>
              <a:t>▸  核验：Google Maps、社交资料、邮箱、电话</a:t>
            </a:r>
            <a:br/>
            <a:r>
              <a:t>▸  全自动：数分钟内生成管线就绪的线索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6035040"/>
            <a:ext cx="10332720" cy="457200"/>
          </a:xfrm>
          <a:prstGeom prst="roundRect">
            <a:avLst/>
          </a:prstGeom>
          <a:solidFill>
            <a:srgbClr val="0A1A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60533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000" b="0">
                <a:solidFill>
                  <a:srgbClr val="06B6D4"/>
                </a:solidFill>
                <a:latin typeface="Microsoft YaHei"/>
              </a:defRPr>
            </a:pPr>
            <a:r>
              <a:t>💡  案例：中国太阳能板制造商瞄准澳大利亚 → AI 找到太阳能电站 EPC 承包商、屋顶光伏安装商、离网矿区运营商、农业水泵系统集成商——每个应用场景均为独立的买家细分群体。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06  ▸  端到端销售管理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全流程销售管线——从线索发现到订单成交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每条线索都经过结构化管线流转。AI 在每个阶段为您提供智能辅助。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2651760" cy="219456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400" b="1">
                <a:solidFill>
                  <a:srgbClr val="3B82F6"/>
                </a:solidFill>
                <a:latin typeface="Microsoft YaHei"/>
              </a:defRPr>
            </a:pPr>
            <a:r>
              <a:t>已发现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4,500+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已处理线索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80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AI 找到并筛选</a:t>
            </a:r>
            <a:br/>
            <a:r>
              <a:t>匹配的公司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29000" y="3840480"/>
            <a:ext cx="164592" cy="32004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2926080"/>
            <a:ext cx="2651760" cy="219456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2926080"/>
            <a:ext cx="26517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400" b="1">
                <a:solidFill>
                  <a:srgbClr val="06B6D4"/>
                </a:solidFill>
                <a:latin typeface="Microsoft YaHei"/>
              </a:defRPr>
            </a:pPr>
            <a:r>
              <a:t>联系中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2,100+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069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已处理线索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480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AI 起草个性化</a:t>
            </a:r>
            <a:br/>
            <a:r>
              <a:t>外联开发信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309360" y="3840480"/>
            <a:ext cx="164592" cy="32004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2926080"/>
            <a:ext cx="2651760" cy="219456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2926080"/>
            <a:ext cx="26517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400" b="1">
                <a:solidFill>
                  <a:srgbClr val="F97316"/>
                </a:solidFill>
                <a:latin typeface="Microsoft YaHei"/>
              </a:defRPr>
            </a:pPr>
            <a:r>
              <a:t>洽谈中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850+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069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已处理线索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480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追踪沟通记录、</a:t>
            </a:r>
            <a:br/>
            <a:r>
              <a:t>报价和后续步骤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189720" y="3840480"/>
            <a:ext cx="164592" cy="32004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72600" y="2926080"/>
            <a:ext cx="2651760" cy="219456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72600" y="292608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已成交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320+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069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已处理线索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480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订单确认。</a:t>
            </a:r>
            <a:br/>
            <a:r>
              <a:t>开始出口。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86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📋</a:t>
            </a:r>
            <a:br/>
            <a:r>
              <a:t>拖拽式</a:t>
            </a:r>
            <a:br/>
            <a:r>
              <a:t>阶段管理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5486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📊</a:t>
            </a:r>
            <a:br/>
            <a:r>
              <a:t>转化率</a:t>
            </a:r>
            <a:br/>
            <a:r>
              <a:t>数据分析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486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🤖</a:t>
            </a:r>
            <a:br/>
            <a:r>
              <a:t>AI 生成</a:t>
            </a:r>
            <a:br/>
            <a:r>
              <a:t>下一步建议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486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📝</a:t>
            </a:r>
            <a:br/>
            <a:r>
              <a:t>每条线索</a:t>
            </a:r>
            <a:br/>
            <a:r>
              <a:t>活动日志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486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📤</a:t>
            </a:r>
            <a:br/>
            <a:r>
              <a:t>CSV / Excel</a:t>
            </a:r>
            <a:br/>
            <a:r>
              <a:t>一键导出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5486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🔄</a:t>
            </a:r>
            <a:br/>
            <a:r>
              <a:t>自动巡航</a:t>
            </a:r>
            <a:br/>
            <a:r>
              <a:t>持续拓客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07  ▸  市场情报报告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为每个目标市场生成深度情报报告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AI 生成的报告涵盖您进入新市场所需的一切——从 HS 编码到竞争对手分析，一应俱全。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📈  市场概况</a:t>
            </a:r>
            <a:br/>
            <a:r>
              <a:t>与规模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74320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🏷️  HS 编码</a:t>
            </a:r>
            <a:br/>
            <a:r>
              <a:t>策略建议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74320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💰  进口关税与</a:t>
            </a:r>
            <a:br/>
            <a:r>
              <a:t>定价结构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274320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🚢  物流时效</a:t>
            </a:r>
            <a:br/>
            <a:r>
              <a:t>与运输方案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51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🏢  竞争对手</a:t>
            </a:r>
            <a:br/>
            <a:r>
              <a:t>份额分析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406908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4251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📋  法规合规</a:t>
            </a:r>
            <a:br/>
            <a:r>
              <a:t>要求解读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06908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4251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🎯  市场准入</a:t>
            </a:r>
            <a:br/>
            <a:r>
              <a:t>策略建议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406908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4251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🤝  行业展会</a:t>
            </a:r>
            <a:br/>
            <a:r>
              <a:t>与商务活动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9496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5778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🌍  本地化</a:t>
            </a:r>
            <a:br/>
            <a:r>
              <a:t>适配要求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539496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55778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📊  增长趋势</a:t>
            </a:r>
            <a:br/>
            <a:r>
              <a:t>与市场预测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539496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55778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👥  用户细分</a:t>
            </a:r>
            <a:br/>
            <a:r>
              <a:t>群体分析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539496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5778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📄  可导出</a:t>
            </a:r>
            <a:br/>
            <a:r>
              <a:t>PDF 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000" b="0">
                <a:solidFill>
                  <a:srgbClr val="06B6D4"/>
                </a:solidFill>
                <a:latin typeface="Microsoft YaHei"/>
              </a:defRPr>
            </a:pPr>
            <a:r>
              <a:t>💡  所有报告数据均通过 Google Search 实时验证——非静态数据库内容。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08  ▸  实战效果验证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真实线索、真实公司、真实出口商机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以下所有案例均来自 TradeNexus AI 的真实搜索会话。已核验公司，真实联系方式。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520440" cy="347472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880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🇦🇺  澳大利亚  ·  迷你挖掘机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880360"/>
            <a:ext cx="1051560" cy="201168"/>
          </a:xfrm>
          <a:prstGeom prst="roundRect">
            <a:avLst/>
          </a:prstGeom>
          <a:solidFill>
            <a:srgbClr val="0A3A1A"/>
          </a:solidFill>
          <a:ln w="12700">
            <a:solidFill>
              <a:srgbClr val="165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0B981"/>
                </a:solidFill>
                <a:latin typeface="Microsoft YaHei"/>
              </a:defRPr>
            </a:pPr>
            <a:r>
              <a:t>✓ 真实数据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9184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中国 OEM 制造商瞄准设备租赁公司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931920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Sydney Machinery Hire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24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t>悉尼及新南威尔士州干租车队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0690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Microsoft YaHei"/>
              </a:defRPr>
            </a:pPr>
            <a:r>
              <a:t>95%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17719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Cornfoot Bros Earthmoving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10327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t>100+ 台设备服务维多利亚州民用工程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754879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Microsoft YaHei"/>
              </a:defRPr>
            </a:pPr>
            <a:r>
              <a:t>95%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303520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349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ACE Rental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961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t>200+ 台设备服务昆士兰东南部基建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440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Microsoft YaHei"/>
              </a:defRPr>
            </a:pPr>
            <a:r>
              <a:t>95%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2743200"/>
            <a:ext cx="3520440" cy="347472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2880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🇸🇦  沙特阿拉伯  ·  太阳能光伏板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59" y="2880360"/>
            <a:ext cx="1051560" cy="201168"/>
          </a:xfrm>
          <a:prstGeom prst="roundRect">
            <a:avLst/>
          </a:prstGeom>
          <a:solidFill>
            <a:srgbClr val="0A3A1A"/>
          </a:solidFill>
          <a:ln w="12700">
            <a:solidFill>
              <a:srgbClr val="165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0B981"/>
                </a:solidFill>
                <a:latin typeface="Microsoft YaHei"/>
              </a:defRPr>
            </a:pPr>
            <a:r>
              <a:t>✓ 真实数据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329184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中国制造商瞄准 Vision 2030 光伏 EPC 承包商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19" y="3931920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3977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Desert Technologies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4224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t>吉达光伏制造商、开发商及 EPC 承包商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19" y="40690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Microsoft YaHei"/>
              </a:defRPr>
            </a:pPr>
            <a:r>
              <a:t>85%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19" y="4617719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79" y="46634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National Solar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79" y="4910327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t>达曼领先光伏 EPC 承包商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19" y="4754879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Microsoft YaHei"/>
              </a:defRPr>
            </a:pPr>
            <a:r>
              <a:t>85%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17719" y="5303520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79" y="5349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Ishraq Solar Energy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79" y="55961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t>全球太阳能产品进口批发商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19" y="5440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Microsoft YaHei"/>
              </a:defRPr>
            </a:pPr>
            <a:r>
              <a:t>85%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2743200"/>
            <a:ext cx="3520440" cy="347472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2880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🇫🇯  斐济  ·  暖通空调系统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15600" y="2880360"/>
            <a:ext cx="1051560" cy="201168"/>
          </a:xfrm>
          <a:prstGeom prst="roundRect">
            <a:avLst/>
          </a:prstGeom>
          <a:solidFill>
            <a:srgbClr val="0A3A1A"/>
          </a:solidFill>
          <a:ln w="12700">
            <a:solidFill>
              <a:srgbClr val="165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0B981"/>
                </a:solidFill>
                <a:latin typeface="Microsoft YaHei"/>
              </a:defRPr>
            </a:pPr>
            <a:r>
              <a:t>✓ 真实数据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329184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中国制造商瞄准度假村开发商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6760" y="3931920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3977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Kooline Air Conditioning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224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t>1975 年成立，苏瓦和楠迪设有分公司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40690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Microsoft YaHei"/>
              </a:defRPr>
            </a:pPr>
            <a:r>
              <a:t>85%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66760" y="4617719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20" y="46634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Mechanical Services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4910327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t>大金 VRF 经销商，180+ 员工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1360" y="4754879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Microsoft YaHei"/>
              </a:defRPr>
            </a:pPr>
            <a:r>
              <a:t>85%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66760" y="5303520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5349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Rainbow Cool Tech Fiji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55961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Microsoft YaHei"/>
              </a:defRPr>
            </a:pPr>
            <a:r>
              <a:t>大型酒店及度假村暖通空调工程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60" y="5440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Microsoft YaHei"/>
              </a:defRPr>
            </a:pPr>
            <a:r>
              <a:t>85%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09  ▸  24/7 自主巡航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开启自动巡航，无需值守——AI 持续为您拓客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打开自动巡航后，TradeNexus 持续寻找新买家，自动学习哪些渠道效果最好，</a:t>
            </a:r>
            <a:br/>
            <a:r>
              <a:t>并将搜索资源动态分配给高转化率的应用场景。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3291840" cy="1600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63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🔄  自动</a:t>
            </a:r>
            <a:br/>
            <a:r>
              <a:t>重复扫描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204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每隔几分钟运行一次。</a:t>
            </a:r>
            <a:br/>
            <a:r>
              <a:t>在您专注成交时，</a:t>
            </a:r>
            <a:br/>
            <a:r>
              <a:t>持续发现新线索。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926080"/>
            <a:ext cx="3291840" cy="1600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3063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🧠  自学习</a:t>
            </a:r>
            <a:br/>
            <a:r>
              <a:t>优化引擎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5204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追踪哪些应用场景和渠道</a:t>
            </a:r>
            <a:br/>
            <a:r>
              <a:t>转化率最高。</a:t>
            </a:r>
            <a:br/>
            <a:r>
              <a:t>自动调整搜索预算分配。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926080"/>
            <a:ext cx="3291840" cy="1600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063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🎯  智能</a:t>
            </a:r>
            <a:br/>
            <a:r>
              <a:t>优先级排序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5204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聚焦高需求区域。</a:t>
            </a:r>
            <a:br/>
            <a:r>
              <a:t>自动跳过低效渠道。</a:t>
            </a:r>
            <a:br/>
            <a:r>
              <a:t>最大化每个周期的 ROI。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754880"/>
            <a:ext cx="3291840" cy="1600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8920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📱  后台</a:t>
            </a:r>
            <a:br/>
            <a:r>
              <a:t>静默运行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3492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即使您退出登录也在工作。</a:t>
            </a:r>
            <a:br/>
            <a:r>
              <a:t>下次登录时，</a:t>
            </a:r>
            <a:br/>
            <a:r>
              <a:t>新线索已在管线中等待。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4754880"/>
            <a:ext cx="3291840" cy="1600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48920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📊  渠道表现</a:t>
            </a:r>
            <a:br/>
            <a:r>
              <a:t>数据分析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53492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每个搜索渠道的转化率。</a:t>
            </a:r>
            <a:br/>
            <a:r>
              <a:t>清晰了解哪些买家细分</a:t>
            </a:r>
            <a:br/>
            <a:r>
              <a:t>群体正在产生效果。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754880"/>
            <a:ext cx="3291840" cy="1600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8920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🔔  新线索</a:t>
            </a:r>
            <a:br/>
            <a:r>
              <a:t>实时提醒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3492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新的已验证线索自动</a:t>
            </a:r>
            <a:br/>
            <a:r>
              <a:t>出现在您的管线中。</a:t>
            </a:r>
            <a:br/>
            <a:r>
              <a:t>无需手动检查。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Microsoft YaHei"/>
              </a:defRPr>
            </a:pPr>
            <a:r>
              <a:t>10  ▸  为什么选择 TradeNexus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TradeNexus 的差异化优势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60320"/>
            <a:ext cx="2468880" cy="4114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78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585291712320" y="2560320"/>
            <a:ext cx="228600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91803760" y="25786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TradeNexus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190741747785440" y="2560320"/>
            <a:ext cx="2286000" cy="4114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5190741747876880" y="25786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行业展会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378414254175008713440" y="2560320"/>
            <a:ext cx="2286000" cy="4114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378414254175008804880" y="25786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B2B 数据库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487621994017627967571913440" y="2560320"/>
            <a:ext cx="2286000" cy="4114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487621994017627967572004880" y="25786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手动调研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63240"/>
            <a:ext cx="246888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1089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单次活动成本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91712320" y="3063240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91822048" y="31089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10B981"/>
                </a:solidFill>
                <a:latin typeface="Microsoft YaHei"/>
              </a:defRPr>
            </a:pPr>
            <a:r>
              <a:t>免费起步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5190741747785440" y="3063240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190741747895168" y="31089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Microsoft YaHei"/>
              </a:defRPr>
            </a:pPr>
            <a:r>
              <a:t>15万–80万+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378414254175008713440" y="3063240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378414254175008823168" y="31089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3万–10万/年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7487621994017627967571913440" y="3063240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487621994017627967572023168" y="31089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Microsoft YaHei"/>
              </a:defRPr>
            </a:pPr>
            <a:r>
              <a:t>数百小时人工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502152"/>
            <a:ext cx="246888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54787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买家核验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91712320" y="3502152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91822048" y="35478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10B981"/>
                </a:solidFill>
                <a:latin typeface="Microsoft YaHei"/>
              </a:defRPr>
            </a:pPr>
            <a:r>
              <a:t>✅ 实时核验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5190741747785440" y="3502152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5190741747895168" y="35478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Microsoft YaHei"/>
              </a:defRPr>
            </a:pPr>
            <a:r>
              <a:t>❌ 名片而已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378414254175008713440" y="3502152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378414254175008823168" y="35478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⚠️ 经常过时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7487621994017627967571913440" y="3502152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7487621994017627967572023168" y="35478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Microsoft YaHei"/>
              </a:defRPr>
            </a:pPr>
            <a:r>
              <a:t>❌ 自行调研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41064"/>
            <a:ext cx="246888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3986784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获取首条线索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91712320" y="3941064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91822048" y="398678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10B981"/>
                </a:solidFill>
                <a:latin typeface="Microsoft YaHei"/>
              </a:defRPr>
            </a:pPr>
            <a:r>
              <a:t>⏱️ ~3分钟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5190741747785440" y="3941064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5190741747895168" y="398678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3–6个月筹备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378414254175008713440" y="3941064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378414254175008823168" y="398678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即时(未核验)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7487621994017627967571913440" y="3941064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7487621994017627967572023168" y="398678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数天至数周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379976"/>
            <a:ext cx="246888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4425696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全球覆盖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5291712320" y="4379976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91822048" y="442569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190+ 国家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5190741747785440" y="4379976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5190741747895168" y="442569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1–3 个国家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9378414254175008713440" y="4379976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378414254175008823168" y="442569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数据集有限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7487621994017627967571913440" y="4379976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7487621994017627967572023168" y="442569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取决于个人能力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4818888"/>
            <a:ext cx="246888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08" y="4864608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AI 个性化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5291712320" y="4818888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5291822048" y="486460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10B981"/>
                </a:solidFill>
                <a:latin typeface="Microsoft YaHei"/>
              </a:defRPr>
            </a:pPr>
            <a:r>
              <a:t>✅ 按买家定制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5190741747785440" y="4818888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5190741747895168" y="486460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Microsoft YaHei"/>
              </a:defRPr>
            </a:pPr>
            <a:r>
              <a:t>❌ 通用话术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9378414254175008713440" y="4818888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9378414254175008823168" y="486460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Microsoft YaHei"/>
              </a:defRPr>
            </a:pPr>
            <a:r>
              <a:t>❌ 模板化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47487621994017627967571913440" y="4818888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7487621994017627967572023168" y="486460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Microsoft YaHei"/>
              </a:defRPr>
            </a:pPr>
            <a:r>
              <a:t>❌ 纯手工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" y="5257800"/>
            <a:ext cx="246888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8" y="53035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多渠道搜索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5291712320" y="5257800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5291822048" y="5303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Google + 6社交平台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5190741747785440" y="5257800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5190741747895168" y="5303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仅限面对面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9378414254175008713440" y="5257800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9378414254175008823168" y="5303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仅限邮件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7487621994017627967571913440" y="5257800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7487621994017627967572023168" y="5303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仅限Google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" y="5696712"/>
            <a:ext cx="246888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9808" y="574243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24/7 自动运行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5291712320" y="5696712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5291822048" y="574243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10B981"/>
                </a:solidFill>
                <a:latin typeface="Microsoft YaHei"/>
              </a:defRPr>
            </a:pPr>
            <a:r>
              <a:t>✅ 支持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35190741747785440" y="5696712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5190741747895168" y="574243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Microsoft YaHei"/>
              </a:defRPr>
            </a:pPr>
            <a:r>
              <a:t>❌ 不支持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9378414254175008713440" y="5696712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9378414254175008823168" y="574243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Microsoft YaHei"/>
              </a:defRPr>
            </a:pPr>
            <a:r>
              <a:t>❌ 不支持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7487621994017627967571913440" y="5696712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7487621994017627967572023168" y="574243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Microsoft YaHei"/>
              </a:defRPr>
            </a:pPr>
            <a:r>
              <a:t>❌ 不支持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0080" y="6135624"/>
            <a:ext cx="246888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9808" y="6181344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市场情报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5291712320" y="6135624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5291822048" y="618134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完整深度报告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5190741747785440" y="6135624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5190741747895168" y="618134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仅有宣传册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9378414254175008713440" y="6135624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9378414254175008823168" y="618134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基础筛选条件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47487621994017627967571913440" y="6135624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7487621994017627967572023168" y="618134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Microsoft YaHei"/>
              </a:defRPr>
            </a:pPr>
            <a:r>
              <a:t>自行整理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0" y="64922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000" b="0">
                <a:solidFill>
                  <a:srgbClr val="10B981"/>
                </a:solidFill>
                <a:latin typeface="Microsoft YaHei"/>
              </a:defRPr>
            </a:pPr>
            <a:r>
              <a:t>🏆  TradeNexus 集各方案之所长：AI 的速度 + 人工级别的核验质量 + 持续自主运行。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准备好找到您的下一个买家了吗？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加入使用 TradeNexus AI 的制造商和出口商行列</a:t>
            </a:r>
            <a:br/>
            <a:r>
              <a:t>在全球 190+ 国家发现已验证的 B2B 买家——从今天开始。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3657600"/>
            <a:ext cx="45720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免费开始拓客  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937760"/>
            <a:ext cx="2194560" cy="9144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5120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600" b="1">
                <a:solidFill>
                  <a:srgbClr val="06B6D4"/>
                </a:solidFill>
                <a:latin typeface="Microsoft YaHei"/>
              </a:defRPr>
            </a:pPr>
            <a:r>
              <a:t>190+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覆盖国家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937760"/>
            <a:ext cx="2194560" cy="9144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5120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600" b="1">
                <a:solidFill>
                  <a:srgbClr val="10B981"/>
                </a:solidFill>
                <a:latin typeface="Microsoft YaHei"/>
              </a:defRPr>
            </a:pPr>
            <a:r>
              <a:t>3 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获取首条线索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937760"/>
            <a:ext cx="2194560" cy="9144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5120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600" b="1">
                <a:solidFill>
                  <a:srgbClr val="3B82F6"/>
                </a:solidFill>
                <a:latin typeface="Microsoft YaHei"/>
              </a:defRPr>
            </a:pPr>
            <a: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全天候自主运行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4937760"/>
            <a:ext cx="2194560" cy="9144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5120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600" b="1">
                <a:solidFill>
                  <a:srgbClr val="10B981"/>
                </a:solidFill>
                <a:latin typeface="Microsoft YaHei"/>
              </a:defRPr>
            </a:pPr>
            <a:r>
              <a:t>免费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立即起步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62179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tradenexus.ai  ·  AI 赋能 B2B 外贸拓客平台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