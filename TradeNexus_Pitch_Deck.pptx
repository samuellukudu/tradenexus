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2286000"/>
            <a:ext cx="3657600" cy="3657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1371600"/>
            <a:ext cx="4572000" cy="4572000"/>
          </a:xfrm>
          <a:prstGeom prst="ellipse">
            <a:avLst/>
          </a:prstGeom>
          <a:solidFill>
            <a:srgbClr val="3B82F6">
              <a:lumMod val="5000"/>
              <a:lumOff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6B6D4"/>
                </a:solidFill>
                <a:latin typeface="Outfit"/>
              </a:defRPr>
            </a:pPr>
            <a:r>
              <a:t>⬡  TradeNexus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800" b="1">
                <a:solidFill>
                  <a:srgbClr val="FFFFFF"/>
                </a:solidFill>
                <a:latin typeface="Outfit"/>
              </a:defRPr>
            </a:pPr>
            <a:r>
              <a:t>Global Demand Meets</a:t>
            </a:r>
          </a:p>
          <a:p>
            <a:pPr algn="l">
              <a:spcAft>
                <a:spcPts val="400"/>
              </a:spcAft>
              <a:defRPr sz="4800" b="1">
                <a:solidFill>
                  <a:srgbClr val="06B6D4"/>
                </a:solidFill>
                <a:latin typeface="Outfit"/>
              </a:defRPr>
            </a:pPr>
            <a:r>
              <a:t>Your Supply. Instantly.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94A3B8"/>
                </a:solidFill>
                <a:latin typeface="Outfit"/>
              </a:defRPr>
            </a:pPr>
            <a:r>
              <a:t>Autonomous AI Sales Agents That Find, Verify, and Fill Your Pipeline</a:t>
            </a:r>
            <a:br/>
            <a:r>
              <a:t>With Qualified B2B Buyers — 24 Hours a Day, Across 190+ Countries.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182880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2120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06B6D4"/>
                </a:solidFill>
                <a:latin typeface="Outfit"/>
              </a:defRPr>
            </a:pPr>
            <a:r>
              <a:t>190+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669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Outfit"/>
              </a:defRPr>
            </a:pPr>
            <a:r>
              <a:t>Countries Scouted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029200"/>
            <a:ext cx="182880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52120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10B981"/>
                </a:solidFill>
                <a:latin typeface="Outfit"/>
              </a:defRPr>
            </a:pPr>
            <a:r>
              <a:t>4,500+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669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Outfit"/>
              </a:defRPr>
            </a:pPr>
            <a:r>
              <a:t>Active Buyers Detected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5029200"/>
            <a:ext cx="182880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52120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3B82F6"/>
                </a:solidFill>
                <a:latin typeface="Outfit"/>
              </a:defRPr>
            </a:pPr>
            <a:r>
              <a:t>98%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5669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Outfit"/>
              </a:defRPr>
            </a:pPr>
            <a:r>
              <a:t>Match 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6217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80"/>
              </a:spcAft>
              <a:defRPr sz="1000" b="0">
                <a:solidFill>
                  <a:srgbClr val="64748B"/>
                </a:solidFill>
                <a:latin typeface="Outfit"/>
              </a:defRPr>
            </a:pPr>
            <a:r>
              <a:t>AI-Powered B2B Prospecting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Outfit"/>
              </a:defRPr>
            </a:pPr>
            <a:r>
              <a:t>01  ▸ 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Outfit"/>
              </a:defRPr>
            </a:pPr>
            <a:r>
              <a:t>B2B Export Is Broken for Manufacturers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Outfit"/>
              </a:defRPr>
            </a:pPr>
            <a:r>
              <a:t>Suppliers waste millions on trade shows, cold emails, and unverified lead lists — with no pipeline to show for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🔍  Manual Research Is Slow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Teams spend weeks Googling buyers,</a:t>
            </a:r>
            <a:br/>
            <a:r>
              <a:t>scraping directories, and guessing who to contact.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74320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💸  Trade Shows Are Expensive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2918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$20K–$100K per show. 3 days. Hundreds</a:t>
            </a:r>
            <a:br/>
            <a:r>
              <a:t>of business cards. Near-zero follow-through.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4320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8803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📉  Unverified Lead Lists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2918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Purchased B2B lists have 30–50% bounce rates.</a:t>
            </a:r>
            <a:br/>
            <a:r>
              <a:t>Outdated contacts. Wrong industries. No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6344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🌍  Language &amp; Cultural Barriers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120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Reaching buyers in 190 countries requires</a:t>
            </a:r>
            <a:br/>
            <a:r>
              <a:t>local market knowledge suppliers don't have.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466344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⏳  No Follow-Up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52120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Even when a lead is found, there's no systematic</a:t>
            </a:r>
            <a:br/>
            <a:r>
              <a:t>way to nurture, track, and close across time zones.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66344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🚫  Missed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2120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Buyers ARE searching for your products right now.</a:t>
            </a:r>
            <a:br/>
            <a:r>
              <a:t>You just don't know who they are or where to find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Outfit"/>
              </a:defRPr>
            </a:pPr>
            <a:r>
              <a:t>02  ▸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Outfit"/>
              </a:defRPr>
            </a:pPr>
            <a:r>
              <a:t>TradeNexus AI: Your Autonomous Global Sales 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Outfit"/>
              </a:defRPr>
            </a:pPr>
            <a:r>
              <a:t>Describe your product once. Our AI agents find verified buyers, analyze markets,</a:t>
            </a:r>
            <a:br/>
            <a:r>
              <a:t>qualify companies, and draft personalized outreach — automatically, around the clock.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32918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🧠  AI Product</a:t>
            </a:r>
            <a:br/>
            <a:r>
              <a:t>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832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Upload a spec sheet or describe</a:t>
            </a:r>
            <a:br/>
            <a:r>
              <a:t>your product. AI extracts technical</a:t>
            </a:r>
            <a:br/>
            <a:r>
              <a:t>specs, certifications, and ideal</a:t>
            </a:r>
            <a:br/>
            <a:r>
              <a:t>buyer profiles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74320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743200"/>
            <a:ext cx="329184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🌐  Global Buyer</a:t>
            </a:r>
            <a:br/>
            <a:r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832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Autonomous agents search 190+</a:t>
            </a:r>
            <a:br/>
            <a:r>
              <a:t>countries across Google, social</a:t>
            </a:r>
            <a:br/>
            <a:r>
              <a:t>media, trade directories, and</a:t>
            </a:r>
            <a:br/>
            <a:r>
              <a:t>chambers of commerce.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74320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926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✅  Real-Time</a:t>
            </a:r>
            <a:br/>
            <a:r>
              <a:t>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38328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Every lead is verified: Google</a:t>
            </a:r>
            <a:br/>
            <a:r>
              <a:t>Maps business presence, social</a:t>
            </a:r>
            <a:br/>
            <a:r>
              <a:t>profile cross-check, email &amp; phone</a:t>
            </a:r>
            <a:br/>
            <a:r>
              <a:t>validation against live sources.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6344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663440"/>
            <a:ext cx="329184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📊  Market</a:t>
            </a:r>
            <a:br/>
            <a:r>
              <a:t>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303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Per-region reports with HS codes,</a:t>
            </a:r>
            <a:br/>
            <a:r>
              <a:t>import duties, competitor share,</a:t>
            </a:r>
            <a:br/>
            <a:r>
              <a:t>growth trends, pricing structure,</a:t>
            </a:r>
            <a:br/>
            <a:r>
              <a:t>and entry strategy — all sourced.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466344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663440"/>
            <a:ext cx="329184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🤖  24/7</a:t>
            </a:r>
            <a:br/>
            <a:r>
              <a:t>Auto-Pilot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303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Turn it on and walk away. AI</a:t>
            </a:r>
            <a:br/>
            <a:r>
              <a:t>re-scouts your markets every few</a:t>
            </a:r>
            <a:br/>
            <a:r>
              <a:t>minutes, learning which channels</a:t>
            </a:r>
            <a:br/>
            <a:r>
              <a:t>perform best over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663440"/>
            <a:ext cx="32918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4663440"/>
            <a:ext cx="32918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✉️  AI Outreach</a:t>
            </a:r>
            <a:br/>
            <a:r>
              <a:t>Drafts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3035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Personalized cold emails, LinkedIn</a:t>
            </a:r>
            <a:br/>
            <a:r>
              <a:t>messages, WhatsApp texts, and</a:t>
            </a:r>
            <a:br/>
            <a:r>
              <a:t>distributor pitches — drafted per</a:t>
            </a:r>
            <a:br/>
            <a:r>
              <a:t>lead, per market, per buyer 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Outfit"/>
              </a:defRPr>
            </a:pPr>
            <a:r>
              <a:t>03  ▸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Outfit"/>
              </a:defRPr>
            </a:pPr>
            <a:r>
              <a:t>3 Simple Steps From Product to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Outfit"/>
              </a:defRPr>
            </a:pPr>
            <a:r>
              <a:t>No manual research. No expensive databases. No sales team required.</a:t>
            </a:r>
          </a:p>
        </p:txBody>
      </p:sp>
      <p:sp>
        <p:nvSpPr>
          <p:cNvPr id="6" name="Oval 5"/>
          <p:cNvSpPr/>
          <p:nvPr/>
        </p:nvSpPr>
        <p:spPr>
          <a:xfrm>
            <a:off x="2011680" y="274320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Outfit"/>
              </a:defRPr>
            </a:pPr>
            <a:r>
              <a:t>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91840" y="3108960"/>
            <a:ext cx="914400" cy="36576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800" b="1">
                <a:solidFill>
                  <a:srgbClr val="FFFFFF"/>
                </a:solidFill>
                <a:latin typeface="Outfit"/>
              </a:defRPr>
            </a:pPr>
            <a:r>
              <a:t>Describe Your</a:t>
            </a:r>
            <a:br/>
            <a: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463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0">
                <a:solidFill>
                  <a:srgbClr val="94A3B8"/>
                </a:solidFill>
                <a:latin typeface="Outfit"/>
              </a:defRPr>
            </a:pPr>
            <a:r>
              <a:t>Upload a PDF spec sheet, paste a</a:t>
            </a:r>
            <a:br/>
            <a:r>
              <a:t>description, or just name your</a:t>
            </a:r>
            <a:br/>
            <a:r>
              <a:t>product. Our AI extracts specs,</a:t>
            </a:r>
            <a:br/>
            <a:r>
              <a:t>certifications, ideal buyer profiles,</a:t>
            </a:r>
            <a:br/>
            <a:r>
              <a:t>and value propositions.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0" y="2743200"/>
            <a:ext cx="1097280" cy="10972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Outfit"/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49440" y="3108960"/>
            <a:ext cx="914400" cy="36576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800" b="1">
                <a:solidFill>
                  <a:srgbClr val="FFFFFF"/>
                </a:solidFill>
                <a:latin typeface="Outfit"/>
              </a:defRPr>
            </a:pPr>
            <a:r>
              <a:t>AI Scouts</a:t>
            </a:r>
            <a:br/>
            <a:r>
              <a:t>Global Markets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8463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0">
                <a:solidFill>
                  <a:srgbClr val="94A3B8"/>
                </a:solidFill>
                <a:latin typeface="Outfit"/>
              </a:defRPr>
            </a:pPr>
            <a:r>
              <a:t>Autonomous agents search 190+</a:t>
            </a:r>
            <a:br/>
            <a:r>
              <a:t>countries using application-led</a:t>
            </a:r>
            <a:br/>
            <a:r>
              <a:t>discovery. They find buyers across</a:t>
            </a:r>
            <a:br/>
            <a:r>
              <a:t>Google, LinkedIn, Facebook,</a:t>
            </a:r>
            <a:br/>
            <a:r>
              <a:t>Instagram, and trade directories.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0" y="274320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  <a:latin typeface="Outfi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800" b="1">
                <a:solidFill>
                  <a:srgbClr val="FFFFFF"/>
                </a:solidFill>
                <a:latin typeface="Outfit"/>
              </a:defRPr>
            </a:pPr>
            <a:r>
              <a:t>Contact</a:t>
            </a:r>
            <a:br/>
            <a:r>
              <a:t>and Close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8463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0">
                <a:solidFill>
                  <a:srgbClr val="94A3B8"/>
                </a:solidFill>
                <a:latin typeface="Outfit"/>
              </a:defRPr>
            </a:pPr>
            <a:r>
              <a:t>Get verified emails, phone numbers,</a:t>
            </a:r>
            <a:br/>
            <a:r>
              <a:t>social profiles, and AI-generated</a:t>
            </a:r>
            <a:br/>
            <a:r>
              <a:t>outreach messages. Track every</a:t>
            </a:r>
            <a:br/>
            <a:r>
              <a:t>lead through your pipeline from</a:t>
            </a:r>
            <a:br/>
            <a:r>
              <a:t>discovery to closed deal.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1">
                <a:solidFill>
                  <a:srgbClr val="10B981"/>
                </a:solidFill>
                <a:latin typeface="Outfit"/>
              </a:defRPr>
            </a:pPr>
            <a:r>
              <a:t>⚡  Average time from product description to first verified leads: under 3 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Outfit"/>
              </a:defRPr>
            </a:pPr>
            <a:r>
              <a:t>04  ▸  GLOBAL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Outfit"/>
              </a:defRPr>
            </a:pPr>
            <a:r>
              <a:t>Real-Time Demand Across 190+ Countries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Outfit"/>
              </a:defRPr>
            </a:pPr>
            <a:r>
              <a:t>Our AI agents monitor global B2B procurement signals 24/7. These are real hotspots detected by the platform: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🇦🇪  Dubai, UAE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852928"/>
            <a:ext cx="1051560" cy="201168"/>
          </a:xfrm>
          <a:prstGeom prst="roundRect">
            <a:avLst/>
          </a:prstGeom>
          <a:solidFill>
            <a:srgbClr val="130901"/>
          </a:solidFill>
          <a:ln w="12700">
            <a:solidFill>
              <a:srgbClr val="301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97316"/>
                </a:solidFill>
                <a:latin typeface="Outfit"/>
              </a:defRPr>
            </a:pPr>
            <a:r>
              <a:t>HIGH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🛒  320+ Buyers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Top: PPE &amp; Medical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Outfit"/>
              </a:defRPr>
            </a:pPr>
            <a:r>
              <a:t>Match: 98%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74320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🇸🇦  Jeddah, Saudi Arabia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852928"/>
            <a:ext cx="1051560" cy="201168"/>
          </a:xfrm>
          <a:prstGeom prst="roundRect">
            <a:avLst/>
          </a:prstGeom>
          <a:solidFill>
            <a:srgbClr val="130901"/>
          </a:solidFill>
          <a:ln w="12700">
            <a:solidFill>
              <a:srgbClr val="301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97316"/>
                </a:solidFill>
                <a:latin typeface="Outfit"/>
              </a:defRPr>
            </a:pPr>
            <a:r>
              <a:t>HIGH 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🛒  210+ Buyers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611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Top: Solar Panels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931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Outfit"/>
              </a:defRPr>
            </a:pPr>
            <a:r>
              <a:t>Match: 89%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74320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🇦🇺  Sydney, Australia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852928"/>
            <a:ext cx="1051560" cy="201168"/>
          </a:xfrm>
          <a:prstGeom prst="roundRect">
            <a:avLst/>
          </a:prstGeom>
          <a:solidFill>
            <a:srgbClr val="130901"/>
          </a:solidFill>
          <a:ln w="12700">
            <a:solidFill>
              <a:srgbClr val="301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97316"/>
                </a:solidFill>
                <a:latin typeface="Outfit"/>
              </a:defRPr>
            </a:pPr>
            <a:r>
              <a:t>HIGH DEMAND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🛒  220+ Buyers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11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Top: Mini Excavators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31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Outfit"/>
              </a:defRPr>
            </a:pPr>
            <a:r>
              <a:t>Match: 96%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274320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834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🇩🇪  Nuremberg, Germany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52760" y="2852928"/>
            <a:ext cx="1051560" cy="201168"/>
          </a:xfrm>
          <a:prstGeom prst="roundRect">
            <a:avLst/>
          </a:prstGeom>
          <a:solidFill>
            <a:srgbClr val="000E10"/>
          </a:solidFill>
          <a:ln w="12700">
            <a:solidFill>
              <a:srgbClr val="01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6B6D4"/>
                </a:solidFill>
                <a:latin typeface="Outfit"/>
              </a:defRPr>
            </a:pPr>
            <a:r>
              <a:t>GROWING 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246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🛒  180+ Buyers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6118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Top: EV Batteries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9319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Outfit"/>
              </a:defRPr>
            </a:pPr>
            <a:r>
              <a:t>Match: 93%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6344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🇧🇷  São Paulo, Brazil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4773168"/>
            <a:ext cx="1051560" cy="201168"/>
          </a:xfrm>
          <a:prstGeom prst="roundRect">
            <a:avLst/>
          </a:prstGeom>
          <a:solidFill>
            <a:srgbClr val="130901"/>
          </a:solidFill>
          <a:ln w="12700">
            <a:solidFill>
              <a:srgbClr val="301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97316"/>
                </a:solidFill>
                <a:latin typeface="Outfit"/>
              </a:defRPr>
            </a:pPr>
            <a:r>
              <a:t>HIGH DEMAND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🛒  195+ Buyers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532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Top: Mining Parts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52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Outfit"/>
              </a:defRPr>
            </a:pPr>
            <a:r>
              <a:t>Match: 94%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66160" y="466344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4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🇫🇯  Suva, Fiji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83480" y="4773168"/>
            <a:ext cx="1051560" cy="201168"/>
          </a:xfrm>
          <a:prstGeom prst="roundRect">
            <a:avLst/>
          </a:prstGeom>
          <a:solidFill>
            <a:srgbClr val="000E10"/>
          </a:solidFill>
          <a:ln w="12700">
            <a:solidFill>
              <a:srgbClr val="01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6B6D4"/>
                </a:solidFill>
                <a:latin typeface="Outfit"/>
              </a:defRPr>
            </a:pPr>
            <a:r>
              <a:t>GROWING MARKET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4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🛒  95+ Buyers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40" y="5532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Top: HVAC Systems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5852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Outfit"/>
              </a:defRPr>
            </a:pPr>
            <a:r>
              <a:t>Match: 92%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466344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🇲🇽  Monterrey, Mexico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4773168"/>
            <a:ext cx="1051560" cy="201168"/>
          </a:xfrm>
          <a:prstGeom prst="roundRect">
            <a:avLst/>
          </a:prstGeom>
          <a:solidFill>
            <a:srgbClr val="000E10"/>
          </a:solidFill>
          <a:ln w="12700">
            <a:solidFill>
              <a:srgbClr val="01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6B6D4"/>
                </a:solidFill>
                <a:latin typeface="Outfit"/>
              </a:defRPr>
            </a:pPr>
            <a:r>
              <a:t>GROWING MARKET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🛒  130+ Buyers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532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Top: Packaging Machines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852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Outfit"/>
              </a:defRPr>
            </a:pPr>
            <a:r>
              <a:t>Match: 95%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4663440"/>
            <a:ext cx="2606040" cy="16916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18320" y="4754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300" b="1">
                <a:solidFill>
                  <a:srgbClr val="FFFFFF"/>
                </a:solidFill>
                <a:latin typeface="Outfit"/>
              </a:defRPr>
            </a:pPr>
            <a:r>
              <a:t>🇰🇪  Nairobi, Kenya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52760" y="4773168"/>
            <a:ext cx="1051560" cy="201168"/>
          </a:xfrm>
          <a:prstGeom prst="roundRect">
            <a:avLst/>
          </a:prstGeom>
          <a:solidFill>
            <a:srgbClr val="000E10"/>
          </a:solidFill>
          <a:ln w="12700">
            <a:solidFill>
              <a:srgbClr val="0123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06B6D4"/>
                </a:solidFill>
                <a:latin typeface="Outfit"/>
              </a:defRPr>
            </a:pPr>
            <a:r>
              <a:t>GROWING MARKET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5166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🛒  150+ Buyers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5532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Top: Agri Machinery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58521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10B981"/>
                </a:solidFill>
                <a:latin typeface="Outfit"/>
              </a:defRPr>
            </a:pPr>
            <a:r>
              <a:t>Match: 91%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64008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64748B"/>
                </a:solidFill>
                <a:latin typeface="Outfit"/>
              </a:defRPr>
            </a:pPr>
            <a:r>
              <a:t>📡  Data refreshed continuously. New buyer signals detected every hour across all regions.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Outfit"/>
              </a:defRPr>
            </a:pPr>
            <a:r>
              <a:t>05  ▸  INTELLIGENT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Outfit"/>
              </a:defRPr>
            </a:pPr>
            <a:r>
              <a:t>We Don't Just Search Keywords. We Find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Outfit"/>
              </a:defRPr>
            </a:pPr>
            <a:r>
              <a:t>TradeNexus uses application-led discovery — mapping exactly how your product is used in each target country,</a:t>
            </a:r>
            <a:br/>
            <a:r>
              <a:t>then finding the specific companies that buy for those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F97316"/>
                </a:solidFill>
                <a:latin typeface="Outfit"/>
              </a:defRPr>
            </a:pPr>
            <a:r>
              <a:t>❌  Traditional B2B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83280"/>
            <a:ext cx="4846320" cy="2377440"/>
          </a:xfrm>
          <a:prstGeom prst="roundRect">
            <a:avLst/>
          </a:prstGeom>
          <a:solidFill>
            <a:srgbClr val="1A0F0F"/>
          </a:solidFill>
          <a:ln w="12700"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56616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50" b="0">
                <a:solidFill>
                  <a:srgbClr val="94A3B8"/>
                </a:solidFill>
                <a:latin typeface="Outfit"/>
              </a:defRPr>
            </a:pPr>
            <a:r>
              <a:t>▸  Search: "solar panel distributors Australia"</a:t>
            </a:r>
            <a:br/>
            <a:r>
              <a:t>▸  Get: generic directory listings, dead links</a:t>
            </a:r>
            <a:br/>
            <a:r>
              <a:t>▸  No context: who buys what and why?</a:t>
            </a:r>
            <a:br/>
            <a:r>
              <a:t>▸  No verification: fake or outdated contacts</a:t>
            </a:r>
            <a:br/>
            <a:r>
              <a:t>▸  One-size-fits-all: same search for every market</a:t>
            </a:r>
            <a:br/>
            <a:r>
              <a:t>▸  Manual: hours of clicking, spreadsheets, pain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10B981"/>
                </a:solidFill>
                <a:latin typeface="Outfit"/>
              </a:defRPr>
            </a:pPr>
            <a:r>
              <a:t>✅  TradeNexus Application-Led 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383280"/>
            <a:ext cx="4846320" cy="2377440"/>
          </a:xfrm>
          <a:prstGeom prst="roundRect">
            <a:avLst/>
          </a:prstGeom>
          <a:solidFill>
            <a:srgbClr val="0F1A0F"/>
          </a:solidFill>
          <a:ln w="12700">
            <a:solidFill>
              <a:srgbClr val="165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56616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50" b="0">
                <a:solidFill>
                  <a:srgbClr val="94A3B8"/>
                </a:solidFill>
                <a:latin typeface="Outfit"/>
              </a:defRPr>
            </a:pPr>
            <a:r>
              <a:t>▸  AI analyzes: how is this product used in Australia?</a:t>
            </a:r>
            <a:br/>
            <a:r>
              <a:t>▸  Maps 3–10 specific applications per country</a:t>
            </a:r>
            <a:br/>
            <a:r>
              <a:t>▸  For each: buyer type, search terms, qualification signals</a:t>
            </a:r>
            <a:br/>
            <a:r>
              <a:t>▸  Searches Google + LinkedIn + Facebook + Instagram</a:t>
            </a:r>
            <a:br/>
            <a:r>
              <a:t>▸  Verifies: Google Maps, social profiles, email, phone</a:t>
            </a:r>
            <a:br/>
            <a:r>
              <a:t>▸  Automatic: pipeline-ready leads in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035040"/>
            <a:ext cx="10332720" cy="457200"/>
          </a:xfrm>
          <a:prstGeom prst="roundRect">
            <a:avLst/>
          </a:prstGeom>
          <a:solidFill>
            <a:srgbClr val="0A1A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60533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06B6D4"/>
                </a:solidFill>
                <a:latin typeface="Outfit"/>
              </a:defRPr>
            </a:pPr>
            <a:r>
              <a:t>💡  Example: A Chinese solar panel maker targeting Australia → AI finds EPC contractors for solar farms, rooftop PV installers, off-grid mining operations, and agricultural water pump systems — each as a distinct buyer segment.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Outfit"/>
              </a:defRPr>
            </a:pPr>
            <a:r>
              <a:t>06  ▸  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Outfit"/>
              </a:defRPr>
            </a:pPr>
            <a:r>
              <a:t>Full Pipeline Automation — From Discovery to Closed 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Outfit"/>
              </a:defRPr>
            </a:pPr>
            <a:r>
              <a:t>Every lead flows through a structured pipeline. AI assists at every stage.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2651760" cy="21945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26517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400" b="1">
                <a:solidFill>
                  <a:srgbClr val="3B82F6"/>
                </a:solidFill>
                <a:latin typeface="Outfit"/>
              </a:defRPr>
            </a:pPr>
            <a:r>
              <a:t>DISCOVERED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2800" b="1">
                <a:solidFill>
                  <a:srgbClr val="FFFFFF"/>
                </a:solidFill>
                <a:latin typeface="Outfit"/>
              </a:defRPr>
            </a:pPr>
            <a:r>
              <a:t>4,500+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64748B"/>
                </a:solidFill>
                <a:latin typeface="Outfit"/>
              </a:defRPr>
            </a:pPr>
            <a:r>
              <a:t>Leads Processed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AI finds and qualifies</a:t>
            </a:r>
            <a:br/>
            <a:r>
              <a:t>matching companies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29000" y="3840480"/>
            <a:ext cx="164592" cy="32004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2926080"/>
            <a:ext cx="2651760" cy="21945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2926080"/>
            <a:ext cx="26517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400" b="1">
                <a:solidFill>
                  <a:srgbClr val="06B6D4"/>
                </a:solidFill>
                <a:latin typeface="Outfit"/>
              </a:defRPr>
            </a:pPr>
            <a:r>
              <a:t>CONTACTING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2800" b="1">
                <a:solidFill>
                  <a:srgbClr val="FFFFFF"/>
                </a:solidFill>
                <a:latin typeface="Outfit"/>
              </a:defRPr>
            </a:pPr>
            <a:r>
              <a:t>2,100+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64748B"/>
                </a:solidFill>
                <a:latin typeface="Outfit"/>
              </a:defRPr>
            </a:pPr>
            <a:r>
              <a:t>Leads Processed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AI drafts personalized</a:t>
            </a:r>
            <a:br/>
            <a:r>
              <a:t>outreach messages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309360" y="3840480"/>
            <a:ext cx="164592" cy="32004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2926080"/>
            <a:ext cx="2651760" cy="21945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2926080"/>
            <a:ext cx="26517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400" b="1">
                <a:solidFill>
                  <a:srgbClr val="F97316"/>
                </a:solidFill>
                <a:latin typeface="Outfit"/>
              </a:defRPr>
            </a:pPr>
            <a:r>
              <a:t>NEGOTIATING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2800" b="1">
                <a:solidFill>
                  <a:srgbClr val="FFFFFF"/>
                </a:solidFill>
                <a:latin typeface="Outfit"/>
              </a:defRPr>
            </a:pPr>
            <a:r>
              <a:t>850+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64748B"/>
                </a:solidFill>
                <a:latin typeface="Outfit"/>
              </a:defRPr>
            </a:pPr>
            <a:r>
              <a:t>Leads Processed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Track conversations,</a:t>
            </a:r>
            <a:br/>
            <a:r>
              <a:t>quotes, and next steps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89720" y="3840480"/>
            <a:ext cx="164592" cy="320040"/>
          </a:xfrm>
          <a:prstGeom prst="rightArrow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72600" y="2926080"/>
            <a:ext cx="2651760" cy="21945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292608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400" b="1">
                <a:solidFill>
                  <a:srgbClr val="10B981"/>
                </a:solidFill>
                <a:latin typeface="Outfit"/>
              </a:defRPr>
            </a:pPr>
            <a:r>
              <a:t>CLOSED WON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657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2800" b="1">
                <a:solidFill>
                  <a:srgbClr val="FFFFFF"/>
                </a:solidFill>
                <a:latin typeface="Outfit"/>
              </a:defRPr>
            </a:pPr>
            <a:r>
              <a:t>320+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069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64748B"/>
                </a:solidFill>
                <a:latin typeface="Outfit"/>
              </a:defRPr>
            </a:pPr>
            <a:r>
              <a:t>Leads Processed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4805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Deal secured.</a:t>
            </a:r>
            <a:br/>
            <a:r>
              <a:t>Export begins.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86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94A3B8"/>
                </a:solidFill>
                <a:latin typeface="Outfit"/>
              </a:defRPr>
            </a:pPr>
            <a:r>
              <a:t>📋</a:t>
            </a:r>
            <a:br/>
            <a:r>
              <a:t>Drag &amp; Drop</a:t>
            </a:r>
            <a:br/>
            <a:r>
              <a:t>Stage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5486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94A3B8"/>
                </a:solidFill>
                <a:latin typeface="Outfit"/>
              </a:defRPr>
            </a:pPr>
            <a:r>
              <a:t>📊</a:t>
            </a:r>
            <a:br/>
            <a:r>
              <a:t>Conversion Rate</a:t>
            </a:r>
            <a:br/>
            <a:r>
              <a:t>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486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94A3B8"/>
                </a:solidFill>
                <a:latin typeface="Outfit"/>
              </a:defRPr>
            </a:pPr>
            <a:r>
              <a:t>🤖</a:t>
            </a:r>
            <a:br/>
            <a:r>
              <a:t>AI-Generated</a:t>
            </a:r>
            <a:br/>
            <a:r>
              <a:t>Next Best Actions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486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94A3B8"/>
                </a:solidFill>
                <a:latin typeface="Outfit"/>
              </a:defRPr>
            </a:pPr>
            <a:r>
              <a:t>📝</a:t>
            </a:r>
            <a:br/>
            <a:r>
              <a:t>Activity Logs</a:t>
            </a:r>
            <a:br/>
            <a:r>
              <a:t>Per Lead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486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94A3B8"/>
                </a:solidFill>
                <a:latin typeface="Outfit"/>
              </a:defRPr>
            </a:pPr>
            <a:r>
              <a:t>📤</a:t>
            </a:r>
            <a:br/>
            <a:r>
              <a:t>CSV / Excel</a:t>
            </a:r>
            <a:br/>
            <a:r>
              <a:t>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54864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00" b="0">
                <a:solidFill>
                  <a:srgbClr val="94A3B8"/>
                </a:solidFill>
                <a:latin typeface="Outfit"/>
              </a:defRPr>
            </a:pPr>
            <a:r>
              <a:t>🔄</a:t>
            </a:r>
            <a:br/>
            <a:r>
              <a:t>Auto-Pilot</a:t>
            </a:r>
            <a:br/>
            <a:r>
              <a:t>Re-scouting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Outfit"/>
              </a:defRPr>
            </a:pPr>
            <a:r>
              <a:t>07  ▸  MARKET INTELLIGENCE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Outfit"/>
              </a:defRPr>
            </a:pPr>
            <a:r>
              <a:t>Deep Market Intelligence for Every Target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Outfit"/>
              </a:defRPr>
            </a:pPr>
            <a:r>
              <a:t>AI-generated reports with everything you need to enter a new market — HS codes to competitor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📈  Market Overview</a:t>
            </a:r>
            <a:br/>
            <a:r>
              <a:t>&amp;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74320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🏷️  HS Code</a:t>
            </a:r>
            <a:br/>
            <a:r>
              <a:t>Strategy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74320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💰  Import Duty &amp;</a:t>
            </a:r>
            <a:br/>
            <a:r>
              <a:t>Pricing 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274320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926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🚢  Shipping Time</a:t>
            </a:r>
            <a:br/>
            <a:r>
              <a:t>&amp; Logistics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6908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51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🏢  Competitor</a:t>
            </a:r>
            <a:br/>
            <a:r>
              <a:t>Share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406908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4251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📋  Regulatory</a:t>
            </a:r>
            <a:br/>
            <a:r>
              <a:t>Compliance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06908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251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🎯  Entry Strategy</a:t>
            </a:r>
            <a:br/>
            <a:r>
              <a:t>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406908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4251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🤝  Trade Shows</a:t>
            </a:r>
            <a:br/>
            <a:r>
              <a:t>&amp; 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9496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🌍  Localization</a:t>
            </a:r>
            <a:br/>
            <a:r>
              <a:t>Requirements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539496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55778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📊  Growth Trends</a:t>
            </a:r>
            <a:br/>
            <a:r>
              <a:t>&amp; Forecasts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539496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55778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👥  User Segment</a:t>
            </a:r>
            <a:br/>
            <a:r>
              <a:t>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5394960"/>
            <a:ext cx="2651760" cy="11430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55778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📄  Export-Ready</a:t>
            </a:r>
            <a:br/>
            <a:r>
              <a:t>PDF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06B6D4"/>
                </a:solidFill>
                <a:latin typeface="Outfit"/>
              </a:defRPr>
            </a:pPr>
            <a:r>
              <a:t>💡  All reports sourced with live web data via Google Search grounding — not static databases.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Outfit"/>
              </a:defRPr>
            </a:pPr>
            <a:r>
              <a:t>08  ▸  VERIFIED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Outfit"/>
              </a:defRPr>
            </a:pPr>
            <a:r>
              <a:t>Real Leads, Real Companies, Real Export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Outfit"/>
              </a:defRPr>
            </a:pPr>
            <a:r>
              <a:t>Every case study below was generated by TradeNexus AI. Verified companies with real contact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520440" cy="347472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880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🇦🇺  Australia  ·  Mini Excavators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880360"/>
            <a:ext cx="1051560" cy="201168"/>
          </a:xfrm>
          <a:prstGeom prst="roundRect">
            <a:avLst/>
          </a:prstGeom>
          <a:solidFill>
            <a:srgbClr val="0A3A1A"/>
          </a:solidFill>
          <a:ln w="12700">
            <a:solidFill>
              <a:srgbClr val="165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0B981"/>
                </a:solidFill>
                <a:latin typeface="Outfit"/>
              </a:defRPr>
            </a:pPr>
            <a:r>
              <a:t>✓ REAL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918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00" b="0">
                <a:solidFill>
                  <a:srgbClr val="94A3B8"/>
                </a:solidFill>
                <a:latin typeface="Outfit"/>
              </a:defRPr>
            </a:pPr>
            <a:r>
              <a:t>Chinese OEM targeting equipment hire companies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931920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Outfit"/>
              </a:defRPr>
            </a:pPr>
            <a:r>
              <a:t>Sydney Machinery Hire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24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Outfit"/>
              </a:defRPr>
            </a:pPr>
            <a:r>
              <a:t>Dry hire fleet across Sydney &amp; NSW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069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Outfit"/>
              </a:defRPr>
            </a:pPr>
            <a:r>
              <a:t>95%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17719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Outfit"/>
              </a:defRPr>
            </a:pPr>
            <a:r>
              <a:t>Cornfoot Bros Earthmoving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1032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Outfit"/>
              </a:defRPr>
            </a:pPr>
            <a:r>
              <a:t>100+ machines for civil construction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75487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Outfit"/>
              </a:defRPr>
            </a:pPr>
            <a:r>
              <a:t>95%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303520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Outfit"/>
              </a:defRPr>
            </a:pPr>
            <a:r>
              <a:t>ACE Rental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961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Outfit"/>
              </a:defRPr>
            </a:pPr>
            <a:r>
              <a:t>200+ fleet, SE Queensland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440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Outfit"/>
              </a:defRPr>
            </a:pPr>
            <a:r>
              <a:t>95%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2743200"/>
            <a:ext cx="3520440" cy="347472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2880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🇸🇦  Saudi Arabia  ·  Solar Panels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59" y="2880360"/>
            <a:ext cx="1051560" cy="201168"/>
          </a:xfrm>
          <a:prstGeom prst="roundRect">
            <a:avLst/>
          </a:prstGeom>
          <a:solidFill>
            <a:srgbClr val="0A3A1A"/>
          </a:solidFill>
          <a:ln w="12700">
            <a:solidFill>
              <a:srgbClr val="165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0B981"/>
                </a:solidFill>
                <a:latin typeface="Outfit"/>
              </a:defRPr>
            </a:pPr>
            <a:r>
              <a:t>✓ REAL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32918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00" b="0">
                <a:solidFill>
                  <a:srgbClr val="94A3B8"/>
                </a:solidFill>
                <a:latin typeface="Outfit"/>
              </a:defRPr>
            </a:pPr>
            <a:r>
              <a:t>Manufacturer targeting Vision 2030 EPC contractors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19" y="3931920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79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Outfit"/>
              </a:defRPr>
            </a:pPr>
            <a:r>
              <a:t>Desert Technologies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4224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Outfit"/>
              </a:defRPr>
            </a:pPr>
            <a:r>
              <a:t>PV manufacturer, EPC &amp; O&amp;M in Jeddah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19" y="4069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Outfit"/>
              </a:defRPr>
            </a:pPr>
            <a:r>
              <a:t>85%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7719" y="4617719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79" y="46634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Outfit"/>
              </a:defRPr>
            </a:pPr>
            <a:r>
              <a:t>National Solar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79" y="491032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Outfit"/>
              </a:defRPr>
            </a:pPr>
            <a:r>
              <a:t>Leading EPC, Dammam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19" y="475487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Outfit"/>
              </a:defRPr>
            </a:pPr>
            <a:r>
              <a:t>85%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19" y="5303520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79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Outfit"/>
              </a:defRPr>
            </a:pPr>
            <a:r>
              <a:t>Ishraq Solar Energy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79" y="55961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Outfit"/>
              </a:defRPr>
            </a:pPr>
            <a:r>
              <a:t>Imports &amp; wholesales global solar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19" y="5440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Outfit"/>
              </a:defRPr>
            </a:pPr>
            <a:r>
              <a:t>85%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2743200"/>
            <a:ext cx="3520440" cy="347472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28803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🇫🇯  Fiji  ·  HVAC Systems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15600" y="2880360"/>
            <a:ext cx="1051560" cy="201168"/>
          </a:xfrm>
          <a:prstGeom prst="roundRect">
            <a:avLst/>
          </a:prstGeom>
          <a:solidFill>
            <a:srgbClr val="0A3A1A"/>
          </a:solidFill>
          <a:ln w="12700">
            <a:solidFill>
              <a:srgbClr val="165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10B981"/>
                </a:solidFill>
                <a:latin typeface="Outfit"/>
              </a:defRPr>
            </a:pPr>
            <a:r>
              <a:t>✓ REAL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329184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00" b="0">
                <a:solidFill>
                  <a:srgbClr val="94A3B8"/>
                </a:solidFill>
                <a:latin typeface="Outfit"/>
              </a:defRPr>
            </a:pPr>
            <a:r>
              <a:t>Manufacturer targeting resort developers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3931920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03920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Outfit"/>
              </a:defRPr>
            </a:pPr>
            <a:r>
              <a:t>Kooline Air Conditioning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4224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Outfit"/>
              </a:defRPr>
            </a:pPr>
            <a:r>
              <a:t>Primary HVAC contractor since 1975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40690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Outfit"/>
              </a:defRPr>
            </a:pPr>
            <a:r>
              <a:t>85%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66760" y="4617719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20" y="466343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Outfit"/>
              </a:defRPr>
            </a:pPr>
            <a:r>
              <a:t>Mechanical Services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4910327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Outfit"/>
              </a:defRPr>
            </a:pPr>
            <a:r>
              <a:t>Daikin VRF distributor, 180+ staff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475487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Outfit"/>
              </a:defRPr>
            </a:pPr>
            <a:r>
              <a:t>85%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66760" y="5303520"/>
            <a:ext cx="3246120" cy="594360"/>
          </a:xfrm>
          <a:prstGeom prst="roundRect">
            <a:avLst/>
          </a:prstGeom>
          <a:solidFill>
            <a:srgbClr val="0812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FFFFFF"/>
                </a:solidFill>
                <a:latin typeface="Outfit"/>
              </a:defRPr>
            </a:pPr>
            <a:r>
              <a:t>Rainbow Cool Tech Fiji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55961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750" b="0">
                <a:solidFill>
                  <a:srgbClr val="64748B"/>
                </a:solidFill>
                <a:latin typeface="Outfit"/>
              </a:defRPr>
            </a:pPr>
            <a:r>
              <a:t>Large-scale resort HVAC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81360" y="5440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1">
                <a:solidFill>
                  <a:srgbClr val="3B82F6"/>
                </a:solidFill>
                <a:latin typeface="Outfit"/>
              </a:defRPr>
            </a:pPr>
            <a:r>
              <a:t>85%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Outfit"/>
              </a:defRPr>
            </a:pPr>
            <a:r>
              <a:t>09  ▸  24/7 AUTONOMOUS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Outfit"/>
              </a:defRPr>
            </a:pPr>
            <a:r>
              <a:t>Set It and Forget It: Auto-Pilot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0">
                <a:solidFill>
                  <a:srgbClr val="94A3B8"/>
                </a:solidFill>
                <a:latin typeface="Outfit"/>
              </a:defRPr>
            </a:pPr>
            <a:r>
              <a:t>Turn on Auto-Pilot and TradeNexus continuously scouts for new buyers, learns which channels work best,</a:t>
            </a:r>
            <a:br/>
            <a:r>
              <a:t>and automatically reallocates search budget to high-performing applications.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3291840" cy="1600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🔄  Automatic</a:t>
            </a:r>
            <a:br/>
            <a:r>
              <a:t>Re-Scouting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04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Runs every few minutes.</a:t>
            </a:r>
            <a:br/>
            <a:r>
              <a:t>Finds fresh leads while</a:t>
            </a:r>
            <a:br/>
            <a:r>
              <a:t>you focus on closing.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926080"/>
            <a:ext cx="3291840" cy="1600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🧠  Learning</a:t>
            </a:r>
            <a:br/>
            <a:r>
              <a:t>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5204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Tracks which applications</a:t>
            </a:r>
            <a:br/>
            <a:r>
              <a:t>and channels convert best.</a:t>
            </a:r>
            <a:br/>
            <a:r>
              <a:t>Shifts budget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926080"/>
            <a:ext cx="3291840" cy="1600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🎯  Smart</a:t>
            </a:r>
            <a:br/>
            <a:r>
              <a:t>Prioritization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5204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Focuses on high-demand</a:t>
            </a:r>
            <a:br/>
            <a:r>
              <a:t>regions. Skips dead ends.</a:t>
            </a:r>
            <a:br/>
            <a:r>
              <a:t>Maximizes ROI per cycle.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54880"/>
            <a:ext cx="3291840" cy="1600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892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📱  Background</a:t>
            </a:r>
            <a:br/>
            <a:r>
              <a:t>Operation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3492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Works even when you're</a:t>
            </a:r>
            <a:br/>
            <a:r>
              <a:t>logged out. New leads</a:t>
            </a:r>
            <a:br/>
            <a:r>
              <a:t>waiting when you return.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4754880"/>
            <a:ext cx="3291840" cy="1600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4892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📊  Performance</a:t>
            </a:r>
            <a:br/>
            <a: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53492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Per-lane conversion rates.</a:t>
            </a:r>
            <a:br/>
            <a:r>
              <a:t>See exactly which buyer</a:t>
            </a:r>
            <a:br/>
            <a:r>
              <a:t>segments are working.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54880"/>
            <a:ext cx="3291840" cy="16002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892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400" b="1">
                <a:solidFill>
                  <a:srgbClr val="FFFFFF"/>
                </a:solidFill>
                <a:latin typeface="Outfit"/>
              </a:defRPr>
            </a:pPr>
            <a:r>
              <a:t>🔔  Fresh Lead</a:t>
            </a:r>
            <a:br/>
            <a:r>
              <a:t>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3492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94A3B8"/>
                </a:solidFill>
                <a:latin typeface="Outfit"/>
              </a:defRPr>
            </a:pPr>
            <a:r>
              <a:t>New verified leads appear</a:t>
            </a:r>
            <a:br/>
            <a:r>
              <a:t>in your pipeline. No need</a:t>
            </a:r>
            <a:br/>
            <a:r>
              <a:t>to check manually.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100" b="1">
                <a:solidFill>
                  <a:srgbClr val="06B6D4"/>
                </a:solidFill>
                <a:latin typeface="Outfit"/>
              </a:defRPr>
            </a:pPr>
            <a:r>
              <a:t>10  ▸  WHY TRADENEXUS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400" b="1">
                <a:solidFill>
                  <a:srgbClr val="FFFFFF"/>
                </a:solidFill>
                <a:latin typeface="Outfit"/>
              </a:defRPr>
            </a:pPr>
            <a:r>
              <a:t>What Makes TradeNexus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2468880" cy="4114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78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585291712320" y="2560320"/>
            <a:ext cx="228600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91803760" y="25786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TradeNexus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35190741747785440" y="2560320"/>
            <a:ext cx="2286000" cy="4114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5190741747876880" y="25786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Trade Shows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378414254175008713440" y="2560320"/>
            <a:ext cx="2286000" cy="4114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378414254175008804880" y="25786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B2B Databases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487621994017627967571913440" y="2560320"/>
            <a:ext cx="2286000" cy="4114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487621994017627967572004880" y="25786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100" b="1">
                <a:solidFill>
                  <a:srgbClr val="FFFFFF"/>
                </a:solidFill>
                <a:latin typeface="Outfit"/>
              </a:defRPr>
            </a:pPr>
            <a:r>
              <a:t>Manual Research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63240"/>
            <a:ext cx="246888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10896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Outfit"/>
              </a:defRPr>
            </a:pPr>
            <a:r>
              <a:t>Cost Per Campaign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91712320" y="3063240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91822048" y="31089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10B981"/>
                </a:solidFill>
                <a:latin typeface="Outfit"/>
              </a:defRPr>
            </a:pPr>
            <a:r>
              <a:t>Free to start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5190741747785440" y="3063240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190741747895168" y="31089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Outfit"/>
              </a:defRPr>
            </a:pPr>
            <a:r>
              <a:t>$20K–$100K+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378414254175008713440" y="3063240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378414254175008823168" y="31089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$5K–$15K/year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7487621994017627967571913440" y="3063240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487621994017627967572023168" y="31089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Outfit"/>
              </a:defRPr>
            </a:pPr>
            <a:r>
              <a:t>Hundreds of hours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502152"/>
            <a:ext cx="246888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54787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Outfit"/>
              </a:defRPr>
            </a:pPr>
            <a:r>
              <a:t>Buyer Verification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91712320" y="3502152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91822048" y="35478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10B981"/>
                </a:solidFill>
                <a:latin typeface="Outfit"/>
              </a:defRPr>
            </a:pPr>
            <a:r>
              <a:t>✅ Live verified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5190741747785440" y="3502152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5190741747895168" y="35478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Outfit"/>
              </a:defRPr>
            </a:pPr>
            <a:r>
              <a:t>❌ Business cards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9378414254175008713440" y="3502152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378414254175008823168" y="35478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⚠️ Often outdated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7487621994017627967571913440" y="3502152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7487621994017627967572023168" y="354787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Outfit"/>
              </a:defRPr>
            </a:pPr>
            <a:r>
              <a:t>❌ Self-researched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941064"/>
            <a:ext cx="246888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986784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Outfit"/>
              </a:defRPr>
            </a:pPr>
            <a:r>
              <a:t>Time to First Lead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91712320" y="3941064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91822048" y="398678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10B981"/>
                </a:solidFill>
                <a:latin typeface="Outfit"/>
              </a:defRPr>
            </a:pPr>
            <a:r>
              <a:t>⏱️ ~3 minutes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5190741747785440" y="3941064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5190741747895168" y="398678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3–6 months prep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9378414254175008713440" y="3941064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378414254175008823168" y="398678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Instant (unverified)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7487621994017627967571913440" y="3941064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7487621994017627967572023168" y="398678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Days to weeks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379976"/>
            <a:ext cx="246888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4425696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Outfit"/>
              </a:defRPr>
            </a:pPr>
            <a:r>
              <a:t>Global Coverage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5291712320" y="4379976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5291822048" y="442569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190+ countries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5190741747785440" y="4379976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5190741747895168" y="442569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1–3 countries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9378414254175008713440" y="4379976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378414254175008823168" y="442569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Limited datasets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7487621994017627967571913440" y="4379976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7487621994017627967572023168" y="4425696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As much as you can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" y="4818888"/>
            <a:ext cx="246888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9808" y="4864608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Outfit"/>
              </a:defRPr>
            </a:pPr>
            <a:r>
              <a:t>AI Personalization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5291712320" y="4818888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5291822048" y="486460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10B981"/>
                </a:solidFill>
                <a:latin typeface="Outfit"/>
              </a:defRPr>
            </a:pPr>
            <a:r>
              <a:t>✅ Per buyer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5190741747785440" y="4818888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5190741747895168" y="486460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Outfit"/>
              </a:defRPr>
            </a:pPr>
            <a:r>
              <a:t>❌ Generic pitch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9378414254175008713440" y="4818888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9378414254175008823168" y="486460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Outfit"/>
              </a:defRPr>
            </a:pPr>
            <a:r>
              <a:t>❌ Template only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7487621994017627967571913440" y="4818888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7487621994017627967572023168" y="486460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Outfit"/>
              </a:defRPr>
            </a:pPr>
            <a:r>
              <a:t>❌ Manual only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" y="5257800"/>
            <a:ext cx="246888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" y="53035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Outfit"/>
              </a:defRPr>
            </a:pPr>
            <a:r>
              <a:t>Multi-Channel Search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5291712320" y="5257800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85291822048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Google + 6 socials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5190741747785440" y="5257800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5190741747895168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In-person only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9378414254175008713440" y="5257800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9378414254175008823168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Email only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7487621994017627967571913440" y="5257800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7487621994017627967572023168" y="53035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Google only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" y="5696712"/>
            <a:ext cx="246888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9808" y="574243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Outfit"/>
              </a:defRPr>
            </a:pPr>
            <a:r>
              <a:t>Auto-Pilot / 24/7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85291712320" y="5696712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85291822048" y="574243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10B981"/>
                </a:solidFill>
                <a:latin typeface="Outfit"/>
              </a:defRPr>
            </a:pPr>
            <a:r>
              <a:t>✅ Yes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35190741747785440" y="5696712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5190741747895168" y="574243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Outfit"/>
              </a:defRPr>
            </a:pPr>
            <a:r>
              <a:t>❌ No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9378414254175008713440" y="5696712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9378414254175008823168" y="574243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Outfit"/>
              </a:defRPr>
            </a:pPr>
            <a:r>
              <a:t>❌ No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7487621994017627967571913440" y="5696712"/>
            <a:ext cx="2286000" cy="384048"/>
          </a:xfrm>
          <a:prstGeom prst="rect">
            <a:avLst/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7487621994017627967572023168" y="5742432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F97316"/>
                </a:solidFill>
                <a:latin typeface="Outfit"/>
              </a:defRPr>
            </a:pPr>
            <a:r>
              <a:t>❌ No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80" y="6135624"/>
            <a:ext cx="246888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9808" y="6181344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950" b="1">
                <a:solidFill>
                  <a:srgbClr val="FFFFFF"/>
                </a:solidFill>
                <a:latin typeface="Outfit"/>
              </a:defRPr>
            </a:pPr>
            <a:r>
              <a:t>Market Intelligence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85291712320" y="6135624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5291822048" y="618134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Full reports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5190741747785440" y="6135624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5190741747895168" y="618134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Brochures only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9378414254175008713440" y="6135624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9378414254175008823168" y="618134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Basic filters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7487621994017627967571913440" y="6135624"/>
            <a:ext cx="2286000" cy="384048"/>
          </a:xfrm>
          <a:prstGeom prst="rect">
            <a:avLst/>
          </a:prstGeom>
          <a:solidFill>
            <a:srgbClr val="08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7487621994017627967572023168" y="6181344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950" b="0">
                <a:solidFill>
                  <a:srgbClr val="94A3B8"/>
                </a:solidFill>
                <a:latin typeface="Outfit"/>
              </a:defRPr>
            </a:pPr>
            <a:r>
              <a:t>Self-compiled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" y="64922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10B981"/>
                </a:solidFill>
                <a:latin typeface="Outfit"/>
              </a:defRPr>
            </a:pPr>
            <a:r>
              <a:t>🏆  TradeNexus combines the best of all worlds: AI speed + human-quality verification + continuous autonomous operation.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4200" b="1">
                <a:solidFill>
                  <a:srgbClr val="FFFFFF"/>
                </a:solidFill>
                <a:latin typeface="Outfit"/>
              </a:defRPr>
            </a:pPr>
            <a:r>
              <a:t>Ready to Find Your Next Buyer?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94A3B8"/>
                </a:solidFill>
                <a:latin typeface="Outfit"/>
              </a:defRPr>
            </a:pPr>
            <a:r>
              <a:t>Join manufacturers and exporters using TradeNexus AI to discover</a:t>
            </a:r>
            <a:br/>
            <a:r>
              <a:t>verified B2B leads across 190+ countries — starting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3657600"/>
            <a:ext cx="36576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Outfit"/>
              </a:defRPr>
            </a:pPr>
            <a:r>
              <a:t>Start Scouting Free  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937760"/>
            <a:ext cx="219456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06B6D4"/>
                </a:solidFill>
                <a:latin typeface="Outfit"/>
              </a:defRPr>
            </a:pPr>
            <a:r>
              <a:t>190+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Outfit"/>
              </a:defRPr>
            </a:pPr>
            <a:r>
              <a:t>Countries Scouted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937760"/>
            <a:ext cx="219456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10B981"/>
                </a:solidFill>
                <a:latin typeface="Outfit"/>
              </a:defRPr>
            </a:pPr>
            <a:r>
              <a:t>3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Outfit"/>
              </a:defRPr>
            </a:pPr>
            <a:r>
              <a:t>To First Lead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937760"/>
            <a:ext cx="219456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3B82F6"/>
                </a:solidFill>
                <a:latin typeface="Outfit"/>
              </a:defRPr>
            </a:pPr>
            <a:r>
              <a:t>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Outfit"/>
              </a:defRPr>
            </a:pPr>
            <a:r>
              <a:t>Autonomous Operation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4937760"/>
            <a:ext cx="2194560" cy="91440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5120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3600" b="1">
                <a:solidFill>
                  <a:srgbClr val="10B981"/>
                </a:solidFill>
                <a:latin typeface="Outfit"/>
              </a:defRPr>
            </a:pPr>
            <a:r>
              <a:t>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577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000" b="0">
                <a:solidFill>
                  <a:srgbClr val="64748B"/>
                </a:solidFill>
                <a:latin typeface="Outfit"/>
              </a:defRPr>
            </a:pPr>
            <a:r>
              <a:t>To Start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621792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000" b="0">
                <a:solidFill>
                  <a:srgbClr val="64748B"/>
                </a:solidFill>
                <a:latin typeface="Outfit"/>
              </a:defRPr>
            </a:pPr>
            <a:r>
              <a:t>tradenexus.ai  ·  AI-Powered B2B Prospecting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